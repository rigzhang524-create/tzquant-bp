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F5F7"/>
                </a:solidFill>
                <a:latin typeface="Microsoft YaHei"/>
              </a:defRPr>
            </a:pPr>
            <a:r>
              <a:t>为量化私募打造一体化基础设施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004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EAEB3"/>
                </a:solidFill>
                <a:latin typeface="Microsoft YaHei"/>
              </a:defRPr>
            </a:pPr>
            <a:r>
              <a:t>An integrated infrastructure for quant private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AEB3"/>
                </a:solidFill>
                <a:latin typeface="Microsoft YaHei"/>
              </a:defRPr>
            </a:pPr>
            <a:r>
              <a:t>从研究 → 回测 → 实盘，将策略上线周期从3周缩短到3天，降低30%+实盘偏差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7882"/>
                </a:solidFill>
                <a:latin typeface="Microsoft YaHei"/>
              </a:defRPr>
            </a:pPr>
            <a:r>
              <a:t>TzQuant · Investor Deck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5F5F7"/>
                </a:solidFill>
                <a:latin typeface="Microsoft YaHei"/>
              </a:defRPr>
            </a:pPr>
            <a:r>
              <a:t>“我们见过太多优秀的策略团队，因为回测环境与实盘偏差超过30%，上线首日就触发风控——这不是能力的差距，是基础设施的缺失。”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004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EAEB3"/>
                </a:solidFill>
                <a:latin typeface="Microsoft YaHei"/>
              </a:defRPr>
            </a:pPr>
            <a:r>
              <a:t>—— TzQuant 创始人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EAEB3"/>
                </a:solidFill>
                <a:latin typeface="Microsoft YaHei"/>
              </a:defRPr>
            </a:pPr>
            <a:r>
              <a:t>"We've seen too many talented strategy teams trigger risk controls on day one because their backtest environment deviated from live trading by over 30%—this is not a gap in capability, but a gap in infrastructure."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7882"/>
                </a:solidFill>
                <a:latin typeface="Microsoft YaHei"/>
              </a:defRPr>
            </a:pPr>
            <a:r>
              <a:t>— Founder, TzQuant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1E3"/>
                </a:solidFill>
                <a:latin typeface="Microsoft YaHei"/>
              </a:defRPr>
            </a:pPr>
            <a:r>
              <a:t>机会 /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1018"/>
                </a:solidFill>
                <a:latin typeface="Microsoft YaHei"/>
              </a:defRPr>
            </a:pPr>
            <a:r>
              <a:t>量化交易正成为机构投资的核心能力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E6E73"/>
                </a:solidFill>
                <a:latin typeface="Microsoft YaHei"/>
              </a:defRPr>
            </a:pPr>
            <a:r>
              <a:t>Quantitative Trading Is Becoming Core to Institutional Investing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01018"/>
                </a:solidFill>
                <a:latin typeface="Microsoft YaHei"/>
              </a:defRPr>
            </a:pPr>
            <a:r>
              <a:t>仅头部市场的量化私募管理规模就已突破 ~$1.8T，过去五年复合增长率超过 25%。量化投资正从边缘策略走向机构主流配置。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EAEB3"/>
                </a:solidFill>
                <a:latin typeface="Microsoft YaHei"/>
              </a:defRPr>
            </a:pPr>
            <a:r>
              <a:t>In leading markets alone, quantitative private fund AUM has reached ~$1.8T, with a 5-year CAGR exceeding 25%.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01018"/>
                </a:solidFill>
                <a:latin typeface="Microsoft YaHei"/>
              </a:defRPr>
            </a:pPr>
            <a:r>
              <a:t>• 痛点：数据、研究、回测、执行四套系统反复切换，数据清洗占去团队 60% 时间</a:t>
            </a:r>
          </a:p>
          <a:p>
            <a:pPr>
              <a:spcAft>
                <a:spcPts val="1000"/>
              </a:spcAft>
              <a:defRPr sz="1600">
                <a:solidFill>
                  <a:srgbClr val="101018"/>
                </a:solidFill>
                <a:latin typeface="Microsoft YaHei"/>
              </a:defRPr>
            </a:pPr>
            <a:r>
              <a:t>• 需求：将数据、研究、执行与风控融为一体的一站式量化基础设施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84632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1018"/>
                </a:solidFill>
                <a:latin typeface="Microsoft YaHei"/>
              </a:defRPr>
            </a:pPr>
            <a:r>
              <a:t>~$1.8T</a:t>
            </a:r>
          </a:p>
          <a:p>
            <a:pPr algn="ctr">
              <a:defRPr sz="1100">
                <a:solidFill>
                  <a:srgbClr val="AEAEB3"/>
                </a:solidFill>
                <a:latin typeface="Microsoft YaHei"/>
              </a:defRPr>
            </a:pPr>
            <a:r>
              <a:t>中国量化私募规模</a:t>
            </a:r>
          </a:p>
          <a:p>
            <a:pPr algn="ctr">
              <a:defRPr sz="900">
                <a:solidFill>
                  <a:srgbClr val="6E6E73"/>
                </a:solidFill>
                <a:latin typeface="Microsoft YaHei"/>
              </a:defRPr>
            </a:pPr>
            <a:r>
              <a:t>China Quant Private Fund AUM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84632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1018"/>
                </a:solidFill>
                <a:latin typeface="Microsoft YaHei"/>
              </a:defRPr>
            </a:pPr>
            <a:r>
              <a:t>~$1.5T</a:t>
            </a:r>
          </a:p>
          <a:p>
            <a:pPr algn="ctr">
              <a:defRPr sz="1100">
                <a:solidFill>
                  <a:srgbClr val="AEAEB3"/>
                </a:solidFill>
                <a:latin typeface="Microsoft YaHei"/>
              </a:defRPr>
            </a:pPr>
            <a:r>
              <a:t>全球量化对冲基金 AUM</a:t>
            </a:r>
          </a:p>
          <a:p>
            <a:pPr algn="ctr">
              <a:defRPr sz="900">
                <a:solidFill>
                  <a:srgbClr val="6E6E73"/>
                </a:solidFill>
                <a:latin typeface="Microsoft YaHei"/>
              </a:defRPr>
            </a:pPr>
            <a:r>
              <a:t>Global Quant Hedge Fund AUM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484632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1018"/>
                </a:solidFill>
                <a:latin typeface="Microsoft YaHei"/>
              </a:defRPr>
            </a:pPr>
            <a:r>
              <a:t>~$20T</a:t>
            </a:r>
          </a:p>
          <a:p>
            <a:pPr algn="ctr">
              <a:defRPr sz="1100">
                <a:solidFill>
                  <a:srgbClr val="AEAEB3"/>
                </a:solidFill>
                <a:latin typeface="Microsoft YaHei"/>
              </a:defRPr>
            </a:pPr>
            <a:r>
              <a:t>全球算法交易年交易量</a:t>
            </a:r>
          </a:p>
          <a:p>
            <a:pPr algn="ctr">
              <a:defRPr sz="900">
                <a:solidFill>
                  <a:srgbClr val="6E6E73"/>
                </a:solidFill>
                <a:latin typeface="Microsoft YaHei"/>
              </a:defRPr>
            </a:pPr>
            <a:r>
              <a:t>Global Algorithmic Trading Volume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8076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1018"/>
                </a:solidFill>
                <a:latin typeface="Microsoft YaHei"/>
              </a:defRPr>
            </a:pPr>
            <a:r>
              <a:t>25%+</a:t>
            </a:r>
          </a:p>
          <a:p>
            <a:pPr algn="ctr">
              <a:defRPr sz="1100">
                <a:solidFill>
                  <a:srgbClr val="AEAEB3"/>
                </a:solidFill>
                <a:latin typeface="Microsoft YaHei"/>
              </a:defRPr>
            </a:pPr>
            <a:r>
              <a:t>中国五年复合增长率</a:t>
            </a:r>
          </a:p>
          <a:p>
            <a:pPr algn="ctr">
              <a:defRPr sz="900">
                <a:solidFill>
                  <a:srgbClr val="6E6E73"/>
                </a:solidFill>
                <a:latin typeface="Microsoft YaHei"/>
              </a:defRPr>
            </a:pPr>
            <a:r>
              <a:t>China 5-Year CAGR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608076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1018"/>
                </a:solidFill>
                <a:latin typeface="Microsoft YaHei"/>
              </a:defRPr>
            </a:pPr>
            <a:r>
              <a:t>~70%</a:t>
            </a:r>
          </a:p>
          <a:p>
            <a:pPr algn="ctr">
              <a:defRPr sz="1100">
                <a:solidFill>
                  <a:srgbClr val="AEAEB3"/>
                </a:solidFill>
                <a:latin typeface="Microsoft YaHei"/>
              </a:defRPr>
            </a:pPr>
            <a:r>
              <a:t>美股机构量化交易占比</a:t>
            </a:r>
          </a:p>
          <a:p>
            <a:pPr algn="ctr">
              <a:defRPr sz="900">
                <a:solidFill>
                  <a:srgbClr val="6E6E73"/>
                </a:solidFill>
                <a:latin typeface="Microsoft YaHei"/>
              </a:defRPr>
            </a:pPr>
            <a:r>
              <a:t>US Institutional Quant Trading Share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608076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1018"/>
                </a:solidFill>
                <a:latin typeface="Microsoft YaHei"/>
              </a:defRPr>
            </a:pPr>
            <a:r>
              <a:t>10,000+</a:t>
            </a:r>
          </a:p>
          <a:p>
            <a:pPr algn="ctr">
              <a:defRPr sz="1100">
                <a:solidFill>
                  <a:srgbClr val="AEAEB3"/>
                </a:solidFill>
                <a:latin typeface="Microsoft YaHei"/>
              </a:defRPr>
            </a:pPr>
            <a:r>
              <a:t>全球量化基金数量</a:t>
            </a:r>
          </a:p>
          <a:p>
            <a:pPr algn="ctr">
              <a:defRPr sz="900">
                <a:solidFill>
                  <a:srgbClr val="6E6E73"/>
                </a:solidFill>
                <a:latin typeface="Microsoft YaHei"/>
              </a:defRPr>
            </a:pPr>
            <a:r>
              <a:t>Global Quantitative Funds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1E3"/>
                </a:solidFill>
                <a:latin typeface="Microsoft YaHei"/>
              </a:defRPr>
            </a:pPr>
            <a:r>
              <a:t>解决方案 /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7"/>
                </a:solidFill>
                <a:latin typeface="Microsoft YaHei"/>
              </a:defRPr>
            </a:pPr>
            <a:r>
              <a:t>基于自营量化验证的 AI 原生量化研究基础设施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EAEB3"/>
                </a:solidFill>
                <a:latin typeface="Microsoft YaHei"/>
              </a:defRPr>
            </a:pPr>
            <a:r>
              <a:t>AI-native Quantitative Research Infrastructure Validated Through Proprietary Trading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3383280" cy="146304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5F7"/>
                </a:solidFill>
                <a:latin typeface="Microsoft YaHei"/>
              </a:defRPr>
            </a:pPr>
            <a:r>
              <a:t>数据层 Data Layer</a:t>
            </a:r>
          </a:p>
          <a:p>
            <a:pPr>
              <a:spcBef>
                <a:spcPts val="600"/>
              </a:spcBef>
              <a:defRPr sz="1200">
                <a:solidFill>
                  <a:srgbClr val="AEAEB3"/>
                </a:solidFill>
                <a:latin typeface="Microsoft YaHei"/>
              </a:defRPr>
            </a:pPr>
            <a:r>
              <a:t>高质量行情、财务与另类数据</a:t>
            </a:r>
            <a:br/>
            <a:r>
              <a:t>High-quality market, fundamental, and alternative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383280" cy="146304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5F7"/>
                </a:solidFill>
                <a:latin typeface="Microsoft YaHei"/>
              </a:defRPr>
            </a:pPr>
            <a:r>
              <a:t>研究层 Research Layer</a:t>
            </a:r>
          </a:p>
          <a:p>
            <a:pPr>
              <a:spcBef>
                <a:spcPts val="600"/>
              </a:spcBef>
              <a:defRPr sz="1200">
                <a:solidFill>
                  <a:srgbClr val="AEAEB3"/>
                </a:solidFill>
                <a:latin typeface="Microsoft YaHei"/>
              </a:defRPr>
            </a:pPr>
            <a:r>
              <a:t>多因子模型与 AI 策略研究</a:t>
            </a:r>
            <a:br/>
            <a:r>
              <a:t>Multi-factor modeling and AI-driven strategy research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840480"/>
            <a:ext cx="3383280" cy="146304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5F7"/>
                </a:solidFill>
                <a:latin typeface="Microsoft YaHei"/>
              </a:defRPr>
            </a:pPr>
            <a:r>
              <a:t>回测层 Backtest Layer</a:t>
            </a:r>
          </a:p>
          <a:p>
            <a:pPr>
              <a:spcBef>
                <a:spcPts val="600"/>
              </a:spcBef>
              <a:defRPr sz="1200">
                <a:solidFill>
                  <a:srgbClr val="AEAEB3"/>
                </a:solidFill>
                <a:latin typeface="Microsoft YaHei"/>
              </a:defRPr>
            </a:pPr>
            <a:r>
              <a:t>Tick 级高精度回测引擎</a:t>
            </a:r>
            <a:br/>
            <a:r>
              <a:t>Tick-level high-fidelity backtest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840480"/>
            <a:ext cx="3383280" cy="146304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5F7"/>
                </a:solidFill>
                <a:latin typeface="Microsoft YaHei"/>
              </a:defRPr>
            </a:pPr>
            <a:r>
              <a:t>执行层 Execution Layer</a:t>
            </a:r>
          </a:p>
          <a:p>
            <a:pPr>
              <a:spcBef>
                <a:spcPts val="600"/>
              </a:spcBef>
              <a:defRPr sz="1200">
                <a:solidFill>
                  <a:srgbClr val="AEAEB3"/>
                </a:solidFill>
                <a:latin typeface="Microsoft YaHei"/>
              </a:defRPr>
            </a:pPr>
            <a:r>
              <a:t>低延迟实盘交易接入</a:t>
            </a:r>
            <a:br/>
            <a:r>
              <a:t>Low-latency live trading connectivity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663440"/>
            <a:ext cx="7040880" cy="146304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5F7"/>
                </a:solidFill>
                <a:latin typeface="Microsoft YaHei"/>
              </a:defRPr>
            </a:pPr>
            <a:r>
              <a:t>风控层 Risk Control Layer</a:t>
            </a:r>
          </a:p>
          <a:p>
            <a:pPr>
              <a:spcBef>
                <a:spcPts val="600"/>
              </a:spcBef>
              <a:defRPr sz="1200">
                <a:solidFill>
                  <a:srgbClr val="AEAEB3"/>
                </a:solidFill>
                <a:latin typeface="Microsoft YaHei"/>
              </a:defRPr>
            </a:pPr>
            <a:r>
              <a:t>事前事中事后全链路风控体系</a:t>
            </a:r>
            <a:br/>
            <a:r>
              <a:t>Full-chain risk control across pre-trade, in-trade, and post-trade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1E3"/>
                </a:solidFill>
                <a:latin typeface="Microsoft YaHei"/>
              </a:defRPr>
            </a:pPr>
            <a:r>
              <a:t>竞品分析 / COMPETITIVE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1018"/>
                </a:solidFill>
                <a:latin typeface="Microsoft YaHei"/>
              </a:defRPr>
            </a:pPr>
            <a:r>
              <a:t>TzQuant 在数据、执行与风控上形成差异化定位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E6E73"/>
                </a:solidFill>
                <a:latin typeface="Microsoft YaHei"/>
              </a:defRPr>
            </a:pPr>
            <a:r>
              <a:t>Built for institutional investors, TzQuant differentiates through data, execution, and risk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1018"/>
                </a:solidFill>
                <a:latin typeface="Microsoft YaHei"/>
              </a:defRPr>
            </a:pPr>
            <a:r>
              <a:t>我们不认为功能越多越好。量化机构真正的痛点是“闭环”——策略在哪里研究，就在哪里回测，就在哪里执行。所以我们没有选择功能堆砌，而是选择了最难的路：自研低延迟交易核心和 Tick 级回测引擎。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EAEB3"/>
                </a:solidFill>
                <a:latin typeface="Microsoft YaHei"/>
              </a:defRPr>
            </a:pPr>
            <a:r>
              <a:t>The real pain point is the closed loop—research, backtest, and execution in one place. We chose the harder path: building our own low-latency trading core and tick-level backtest engine.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365760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5F7"/>
                          </a:solidFill>
                          <a:latin typeface="Microsoft YaHei"/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5F7"/>
                          </a:solidFill>
                          <a:latin typeface="Microsoft YaHei"/>
                        </a:defRPr>
                      </a:pPr>
                      <a:r>
                        <a:t>AI Agent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5F7"/>
                          </a:solidFill>
                          <a:latin typeface="Microsoft YaHei"/>
                        </a:defRPr>
                      </a:pPr>
                      <a:r>
                        <a:t>Open Research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5F7"/>
                          </a:solidFill>
                          <a:latin typeface="Microsoft YaHei"/>
                        </a:defRPr>
                      </a:pPr>
                      <a:r>
                        <a:t>Community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5F7"/>
                          </a:solidFill>
                          <a:latin typeface="Microsoft YaHei"/>
                        </a:defRPr>
                      </a:pPr>
                      <a:r>
                        <a:t>Execution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WorldQuant BRAIN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QuantConnect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Numerai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JoinQuant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RiceQuant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Hugging 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1018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1E3"/>
                          </a:solidFill>
                          <a:latin typeface="Microsoft YaHei"/>
                        </a:defRPr>
                      </a:pPr>
                      <a:r>
                        <a:t>TZQuant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1E3"/>
                          </a:solidFill>
                          <a:latin typeface="Microsoft YaHei"/>
                        </a:defRPr>
                      </a:pPr>
                      <a:r>
                        <a:t>✓✓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1E3"/>
                          </a:solidFill>
                          <a:latin typeface="Microsoft YaHei"/>
                        </a:defRPr>
                      </a:pPr>
                      <a:r>
                        <a:t>✓✓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1E3"/>
                          </a:solidFill>
                          <a:latin typeface="Microsoft YaHei"/>
                        </a:defRPr>
                      </a:pPr>
                      <a:r>
                        <a:t>✓✓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1E3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1E3"/>
                </a:solidFill>
                <a:latin typeface="Microsoft YaHei"/>
              </a:defRPr>
            </a:pPr>
            <a:r>
              <a:t>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7"/>
                </a:solidFill>
                <a:latin typeface="Microsoft YaHei"/>
              </a:defRPr>
            </a:pPr>
            <a:r>
              <a:t>多个结构性变化正在推动量化基础设施进入新阶段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EAEB3"/>
                </a:solidFill>
                <a:latin typeface="Microsoft YaHei"/>
              </a:defRPr>
            </a:pPr>
            <a:r>
              <a:t>Multiple structural shifts are driving quantitative infrastructure into a new phase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5212080" cy="128016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5F7"/>
                </a:solidFill>
                <a:latin typeface="Microsoft YaHei"/>
              </a:defRPr>
            </a:pPr>
            <a:r>
              <a:t>AI 正在重构策略研究流程</a:t>
            </a:r>
          </a:p>
          <a:p>
            <a:pPr>
              <a:defRPr sz="1100">
                <a:solidFill>
                  <a:srgbClr val="0071E3"/>
                </a:solidFill>
                <a:latin typeface="Microsoft YaHei"/>
              </a:defRPr>
            </a:pPr>
            <a:r>
              <a:t>AI Is Reshaping Strategy Research</a:t>
            </a:r>
          </a:p>
          <a:p>
            <a:pPr>
              <a:spcBef>
                <a:spcPts val="400"/>
              </a:spcBef>
              <a:defRPr sz="1200">
                <a:solidFill>
                  <a:srgbClr val="AEAEB3"/>
                </a:solidFill>
                <a:latin typeface="Microsoft YaHei"/>
              </a:defRPr>
            </a:pPr>
            <a:r>
              <a:t>大模型与自动化工具显著降低策略开发门槛，提高研究效率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212080" cy="128016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5F7"/>
                </a:solidFill>
                <a:latin typeface="Microsoft YaHei"/>
              </a:defRPr>
            </a:pPr>
            <a:r>
              <a:t>多资产交易需求快速增长</a:t>
            </a:r>
          </a:p>
          <a:p>
            <a:pPr>
              <a:defRPr sz="1100">
                <a:solidFill>
                  <a:srgbClr val="0071E3"/>
                </a:solidFill>
                <a:latin typeface="Microsoft YaHei"/>
              </a:defRPr>
            </a:pPr>
            <a:r>
              <a:t>Multi-Asset Trading Demand Is Growing Fast</a:t>
            </a:r>
          </a:p>
          <a:p>
            <a:pPr>
              <a:spcBef>
                <a:spcPts val="400"/>
              </a:spcBef>
              <a:defRPr sz="1200">
                <a:solidFill>
                  <a:srgbClr val="AEAEB3"/>
                </a:solidFill>
                <a:latin typeface="Microsoft YaHei"/>
              </a:defRPr>
            </a:pPr>
            <a:r>
              <a:t>机构从单一股票策略扩展至多资产、跨市场套利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57600"/>
            <a:ext cx="5212080" cy="128016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5F7"/>
                </a:solidFill>
                <a:latin typeface="Microsoft YaHei"/>
              </a:defRPr>
            </a:pPr>
            <a:r>
              <a:t>机构需求正在升级</a:t>
            </a:r>
          </a:p>
          <a:p>
            <a:pPr>
              <a:defRPr sz="1100">
                <a:solidFill>
                  <a:srgbClr val="0071E3"/>
                </a:solidFill>
                <a:latin typeface="Microsoft YaHei"/>
              </a:defRPr>
            </a:pPr>
            <a:r>
              <a:t>Institutional Demands Are Upgrading</a:t>
            </a:r>
          </a:p>
          <a:p>
            <a:pPr>
              <a:spcBef>
                <a:spcPts val="400"/>
              </a:spcBef>
              <a:defRPr sz="1200">
                <a:solidFill>
                  <a:srgbClr val="AEAEB3"/>
                </a:solidFill>
                <a:latin typeface="Microsoft YaHei"/>
              </a:defRPr>
            </a:pPr>
            <a:r>
              <a:t>从单一工具转向统一、稳定、可扩展的量化生产环境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5212080" cy="128016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5F7"/>
                </a:solidFill>
                <a:latin typeface="Microsoft YaHei"/>
              </a:defRPr>
            </a:pPr>
            <a:r>
              <a:t>基础设施生态已经成熟</a:t>
            </a:r>
          </a:p>
          <a:p>
            <a:pPr>
              <a:defRPr sz="1100">
                <a:solidFill>
                  <a:srgbClr val="0071E3"/>
                </a:solidFill>
                <a:latin typeface="Microsoft YaHei"/>
              </a:defRPr>
            </a:pPr>
            <a:r>
              <a:t>The Infrastructure Ecosystem Has Matured</a:t>
            </a:r>
          </a:p>
          <a:p>
            <a:pPr>
              <a:spcBef>
                <a:spcPts val="400"/>
              </a:spcBef>
              <a:defRPr sz="1200">
                <a:solidFill>
                  <a:srgbClr val="AEAEB3"/>
                </a:solidFill>
                <a:latin typeface="Microsoft YaHei"/>
              </a:defRPr>
            </a:pPr>
            <a:r>
              <a:t>云计算、实时数据、交易 API 和算力成本下降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20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F5F7"/>
                </a:solidFill>
                <a:latin typeface="Microsoft YaHei"/>
              </a:defRPr>
            </a:pPr>
            <a:r>
              <a:t>市场正在从“量化工具时代”进入“量化操作系统时代”。The market is moving from the "quant tools era" to the "quant operating system era."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1E3"/>
                </a:solidFill>
                <a:latin typeface="Microsoft YaHei"/>
              </a:defRPr>
            </a:pPr>
            <a:r>
              <a:t>验证 /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1018"/>
                </a:solidFill>
                <a:latin typeface="Microsoft YaHei"/>
              </a:defRPr>
            </a:pPr>
            <a:r>
              <a:t>已验证的市场吸引力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E6E73"/>
                </a:solidFill>
                <a:latin typeface="Microsoft YaHei"/>
              </a:defRPr>
            </a:pPr>
            <a:r>
              <a:t>Proven Market Traction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25603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71E3"/>
                </a:solidFill>
                <a:latin typeface="Microsoft YaHei"/>
              </a:defRPr>
            </a:pPr>
            <a:r>
              <a:t>90%</a:t>
            </a:r>
          </a:p>
          <a:p>
            <a:pPr algn="ctr">
              <a:defRPr sz="1200">
                <a:solidFill>
                  <a:srgbClr val="101018"/>
                </a:solidFill>
                <a:latin typeface="Microsoft YaHei"/>
              </a:defRPr>
            </a:pPr>
            <a:r>
              <a:t>策略上线周期缩短</a:t>
            </a:r>
            <a:br/>
            <a:r>
              <a:t>Deployment cycle reduced</a:t>
            </a:r>
          </a:p>
          <a:p>
            <a:pPr algn="ctr">
              <a:defRPr sz="1000">
                <a:solidFill>
                  <a:srgbClr val="AEAEB3"/>
                </a:solidFill>
                <a:latin typeface="Microsoft YaHei"/>
              </a:defRPr>
            </a:pPr>
            <a:r>
              <a:t>从 3 周到 3 天</a:t>
            </a:r>
            <a:br/>
            <a:r>
              <a:t>From 3 weeks to 3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194560"/>
            <a:ext cx="25603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71E3"/>
                </a:solidFill>
                <a:latin typeface="Microsoft YaHei"/>
              </a:defRPr>
            </a:pPr>
            <a:r>
              <a:t>~$50M</a:t>
            </a:r>
          </a:p>
          <a:p>
            <a:pPr algn="ctr">
              <a:defRPr sz="1200">
                <a:solidFill>
                  <a:srgbClr val="101018"/>
                </a:solidFill>
                <a:latin typeface="Microsoft YaHei"/>
              </a:defRPr>
            </a:pPr>
            <a:r>
              <a:t>日均交易额</a:t>
            </a:r>
            <a:br/>
            <a:r>
              <a:t>Daily trading volume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94560"/>
            <a:ext cx="25603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71E3"/>
                </a:solidFill>
                <a:latin typeface="Microsoft YaHei"/>
              </a:defRPr>
            </a:pPr>
            <a:r>
              <a:t>95%+</a:t>
            </a:r>
          </a:p>
          <a:p>
            <a:pPr algn="ctr">
              <a:defRPr sz="1200">
                <a:solidFill>
                  <a:srgbClr val="101018"/>
                </a:solidFill>
                <a:latin typeface="Microsoft YaHei"/>
              </a:defRPr>
            </a:pPr>
            <a:r>
              <a:t>客户月留存率</a:t>
            </a:r>
            <a:br/>
            <a:r>
              <a:t>Monthly retention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59" y="2194560"/>
            <a:ext cx="25603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71E3"/>
                </a:solidFill>
                <a:latin typeface="Microsoft YaHei"/>
              </a:defRPr>
            </a:pPr>
            <a:r>
              <a:t>2.4×</a:t>
            </a:r>
          </a:p>
          <a:p>
            <a:pPr algn="ctr">
              <a:defRPr sz="1200">
                <a:solidFill>
                  <a:srgbClr val="101018"/>
                </a:solidFill>
                <a:latin typeface="Microsoft YaHei"/>
              </a:defRPr>
            </a:pPr>
            <a:r>
              <a:t>平均机构扩容率</a:t>
            </a:r>
            <a:br/>
            <a:r>
              <a:t>Avg. institutional expansion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49039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1018"/>
                </a:solidFill>
                <a:latin typeface="Microsoft YaHei"/>
              </a:defRPr>
            </a:pPr>
            <a:r>
              <a:t>已有 20+ 家机构客户，累计运行 100+ 个策略模型，其中 10 个已进入实盘交易。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AEB3"/>
                </a:solidFill>
                <a:latin typeface="Microsoft YaHei"/>
              </a:defRPr>
            </a:pPr>
            <a:r>
              <a:t>20+ institutional clients, 100+ strategy models running, with 10 already in live trading.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1018"/>
                </a:solidFill>
                <a:latin typeface="Microsoft YaHei"/>
              </a:defRPr>
            </a:pPr>
            <a:r>
              <a:t>过去 6 个月：客户数增长 300% · 实盘策略增长 450% · 日交易额增长 600%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3035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AEB3"/>
                </a:solidFill>
                <a:latin typeface="Microsoft YaHei"/>
              </a:defRPr>
            </a:pPr>
            <a:r>
              <a:t>“以前一个策略从回测到实盘需要 3 周，现在 3 天。TzQuant 让我们敢做更高频的策略了。” —— 某头部量化私募合伙人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1E3"/>
                </a:solidFill>
                <a:latin typeface="Microsoft YaHei"/>
              </a:defRPr>
            </a:pPr>
            <a:r>
              <a:t>产品 /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7"/>
                </a:solidFill>
                <a:latin typeface="Microsoft YaHei"/>
              </a:defRPr>
            </a:pPr>
            <a:r>
              <a:t>统一量化工作流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EAEB3"/>
                </a:solidFill>
                <a:latin typeface="Microsoft YaHei"/>
              </a:defRPr>
            </a:pPr>
            <a:r>
              <a:t>Unified Quant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AEB3"/>
                </a:solidFill>
                <a:latin typeface="Microsoft YaHei"/>
              </a:defRPr>
            </a:pPr>
            <a:r>
              <a:t>研究 Research → 验证 Backtest → 交易 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51760"/>
            <a:ext cx="3566160" cy="274320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5F7"/>
                </a:solidFill>
                <a:latin typeface="Microsoft YaHei"/>
              </a:defRPr>
            </a:pPr>
            <a:r>
              <a:t>量化研究 TzQuant Research</a:t>
            </a:r>
          </a:p>
          <a:p>
            <a:pPr>
              <a:spcBef>
                <a:spcPts val="600"/>
              </a:spcBef>
              <a:defRPr sz="1300">
                <a:solidFill>
                  <a:srgbClr val="AEAEB3"/>
                </a:solidFill>
                <a:latin typeface="Microsoft YaHei"/>
              </a:defRPr>
            </a:pPr>
            <a:r>
              <a:t>统一研究环境，加速 Alpha 发现与策略构建</a:t>
            </a:r>
          </a:p>
          <a:p>
            <a:pPr>
              <a:spcBef>
                <a:spcPts val="1200"/>
              </a:spcBef>
              <a:defRPr sz="1200">
                <a:solidFill>
                  <a:srgbClr val="8C8C96"/>
                </a:solidFill>
                <a:latin typeface="Microsoft YaHei"/>
              </a:defRPr>
            </a:pPr>
            <a:r>
              <a:t>AI 辅助策略生成 · 因子分析与信号挖掘 · Notebook/SDK 协作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651760"/>
            <a:ext cx="3566160" cy="274320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5F7"/>
                </a:solidFill>
                <a:latin typeface="Microsoft YaHei"/>
              </a:defRPr>
            </a:pPr>
            <a:r>
              <a:t>策略回测 TzQuant Backtest</a:t>
            </a:r>
          </a:p>
          <a:p>
            <a:pPr>
              <a:spcBef>
                <a:spcPts val="600"/>
              </a:spcBef>
              <a:defRPr sz="1300">
                <a:solidFill>
                  <a:srgbClr val="AEAEB3"/>
                </a:solidFill>
                <a:latin typeface="Microsoft YaHei"/>
              </a:defRPr>
            </a:pPr>
            <a:r>
              <a:t>真实市场建模，降低回测与实盘偏差</a:t>
            </a:r>
          </a:p>
          <a:p>
            <a:pPr>
              <a:spcBef>
                <a:spcPts val="1200"/>
              </a:spcBef>
              <a:defRPr sz="1200">
                <a:solidFill>
                  <a:srgbClr val="8C8C96"/>
                </a:solidFill>
                <a:latin typeface="Microsoft YaHei"/>
              </a:defRPr>
            </a:pPr>
            <a:r>
              <a:t>Tick 级事件驱动回测 · 真实交易成本模拟 · 多资产多策略测试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651760"/>
            <a:ext cx="3566160" cy="274320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5F7"/>
                </a:solidFill>
                <a:latin typeface="Microsoft YaHei"/>
              </a:defRPr>
            </a:pPr>
            <a:r>
              <a:t>实盘执行 TzQuant Live</a:t>
            </a:r>
          </a:p>
          <a:p>
            <a:pPr>
              <a:spcBef>
                <a:spcPts val="600"/>
              </a:spcBef>
              <a:defRPr sz="1300">
                <a:solidFill>
                  <a:srgbClr val="AEAEB3"/>
                </a:solidFill>
                <a:latin typeface="Microsoft YaHei"/>
              </a:defRPr>
            </a:pPr>
            <a:r>
              <a:t>低延迟执行与实时风控的一体化交易环境</a:t>
            </a:r>
          </a:p>
          <a:p>
            <a:pPr>
              <a:spcBef>
                <a:spcPts val="1200"/>
              </a:spcBef>
              <a:defRPr sz="1200">
                <a:solidFill>
                  <a:srgbClr val="8C8C96"/>
                </a:solidFill>
                <a:latin typeface="Microsoft YaHei"/>
              </a:defRPr>
            </a:pPr>
            <a:r>
              <a:t>智能订单路由 · 实时风控监控 · 多券商统一接入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1E3"/>
                </a:solidFill>
                <a:latin typeface="Microsoft YaHei"/>
              </a:defRPr>
            </a:pPr>
            <a:r>
              <a:t>护城河 /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1018"/>
                </a:solidFill>
                <a:latin typeface="Microsoft YaHei"/>
              </a:defRPr>
            </a:pPr>
            <a:r>
              <a:t>构建难以复制的护城河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E6E73"/>
                </a:solidFill>
                <a:latin typeface="Microsoft YaHei"/>
              </a:defRPr>
            </a:pPr>
            <a:r>
              <a:t>Building a Defensible Moat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1018"/>
                </a:solidFill>
                <a:latin typeface="Microsoft YaHei"/>
              </a:defRPr>
            </a:pPr>
            <a:r>
              <a:t>单点功能都可以被模仿，但将研究、执行与生态融为一体的原生架构，需要从第一天就重写底层逻辑。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EAEB3"/>
                </a:solidFill>
                <a:latin typeface="Microsoft YaHei"/>
              </a:defRPr>
            </a:pPr>
            <a:r>
              <a:t>Individual features can be copied, but a native architecture that integrates research, execution, and ecosystem requires rewriting the underlying logic from day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0896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1018"/>
                </a:solidFill>
                <a:latin typeface="Microsoft YaHei"/>
              </a:defRPr>
            </a:pPr>
            <a:r>
              <a:t>全链路闭环</a:t>
            </a:r>
          </a:p>
          <a:p>
            <a:pPr>
              <a:defRPr sz="1200">
                <a:solidFill>
                  <a:srgbClr val="AEAEB3"/>
                </a:solidFill>
                <a:latin typeface="Microsoft YaHei"/>
              </a:defRPr>
            </a:pPr>
            <a:r>
              <a:t>Full-Loop Integration · 研究、回测、实盘、风控一体化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10896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1018"/>
                </a:solidFill>
                <a:latin typeface="Microsoft YaHei"/>
              </a:defRPr>
            </a:pPr>
            <a:r>
              <a:t>低延迟执行</a:t>
            </a:r>
          </a:p>
          <a:p>
            <a:pPr>
              <a:defRPr sz="1200">
                <a:solidFill>
                  <a:srgbClr val="AEAEB3"/>
                </a:solidFill>
                <a:latin typeface="Microsoft YaHei"/>
              </a:defRPr>
            </a:pPr>
            <a:r>
              <a:t>Low-Latency Execution · 自研交易核心，订单处理延迟低于毫秒级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8056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1018"/>
                </a:solidFill>
                <a:latin typeface="Microsoft YaHei"/>
              </a:defRPr>
            </a:pPr>
            <a:r>
              <a:t>真实回测</a:t>
            </a:r>
          </a:p>
          <a:p>
            <a:pPr>
              <a:defRPr sz="1200">
                <a:solidFill>
                  <a:srgbClr val="AEAEB3"/>
                </a:solidFill>
                <a:latin typeface="Microsoft YaHei"/>
              </a:defRPr>
            </a:pPr>
            <a:r>
              <a:t>Realistic Backtesting · Tick 级数据与真实交易成本建模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48056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1018"/>
                </a:solidFill>
                <a:latin typeface="Microsoft YaHei"/>
              </a:defRPr>
            </a:pPr>
            <a:r>
              <a:t>开放生态</a:t>
            </a:r>
          </a:p>
          <a:p>
            <a:pPr>
              <a:defRPr sz="1200">
                <a:solidFill>
                  <a:srgbClr val="AEAEB3"/>
                </a:solidFill>
                <a:latin typeface="Microsoft YaHei"/>
              </a:defRPr>
            </a:pPr>
            <a:r>
              <a:t>Open Ecosystem · 标准化 API 与插件体系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12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1018"/>
                </a:solidFill>
                <a:latin typeface="Microsoft YaHei"/>
              </a:defRPr>
            </a:pPr>
            <a:r>
              <a:t>“我们为此重构了18个月。这不是功能堆砌，是量化基础设施该有的样子。”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1E3"/>
                </a:solidFill>
                <a:latin typeface="Microsoft YaHei"/>
              </a:defRPr>
            </a:pPr>
            <a:r>
              <a:t>路线图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7"/>
                </a:solidFill>
                <a:latin typeface="Microsoft YaHei"/>
              </a:defRPr>
            </a:pPr>
            <a:r>
              <a:t>清晰的成长路径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EAEB3"/>
                </a:solidFill>
                <a:latin typeface="Microsoft YaHei"/>
              </a:defRPr>
            </a:pPr>
            <a:r>
              <a:t>Clear Growth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2560320" cy="2743200"/>
          </a:xfrm>
          <a:prstGeom prst="roundRect">
            <a:avLst/>
          </a:prstGeom>
          <a:solidFill>
            <a:srgbClr val="283241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E3"/>
                </a:solidFill>
                <a:latin typeface="Microsoft YaHei"/>
              </a:defRPr>
            </a:pPr>
            <a:r>
              <a:t>已完成 Completed</a:t>
            </a:r>
          </a:p>
          <a:p>
            <a:pPr>
              <a:spcBef>
                <a:spcPts val="800"/>
              </a:spcBef>
              <a:defRPr sz="1800" b="1">
                <a:solidFill>
                  <a:srgbClr val="F5F5F7"/>
                </a:solidFill>
                <a:latin typeface="Microsoft YaHei"/>
              </a:defRPr>
            </a:pPr>
            <a:r>
              <a:t>产品验证</a:t>
            </a:r>
          </a:p>
          <a:p>
            <a:pPr>
              <a:defRPr sz="1200">
                <a:solidFill>
                  <a:srgbClr val="AEAEB3"/>
                </a:solidFill>
                <a:latin typeface="Microsoft YaHei"/>
              </a:defRPr>
            </a:pPr>
            <a:r>
              <a:t>Product Validation</a:t>
            </a:r>
          </a:p>
          <a:p>
            <a:pPr>
              <a:spcBef>
                <a:spcPts val="1000"/>
              </a:spcBef>
              <a:defRPr sz="1100">
                <a:solidFill>
                  <a:srgbClr val="8C8C96"/>
                </a:solidFill>
                <a:latin typeface="Microsoft YaHei"/>
              </a:defRPr>
            </a:pPr>
            <a:r>
              <a:t>核心平台上线，获得机构客户，验证产品与商业模式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2286000"/>
            <a:ext cx="2560320" cy="274320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E3"/>
                </a:solidFill>
                <a:latin typeface="Microsoft YaHei"/>
              </a:defRPr>
            </a:pPr>
            <a:r>
              <a:t>2026</a:t>
            </a:r>
          </a:p>
          <a:p>
            <a:pPr>
              <a:spcBef>
                <a:spcPts val="800"/>
              </a:spcBef>
              <a:defRPr sz="1800" b="1">
                <a:solidFill>
                  <a:srgbClr val="F5F5F7"/>
                </a:solidFill>
                <a:latin typeface="Microsoft YaHei"/>
              </a:defRPr>
            </a:pPr>
            <a:r>
              <a:t>规模扩张</a:t>
            </a:r>
          </a:p>
          <a:p>
            <a:pPr>
              <a:defRPr sz="1200">
                <a:solidFill>
                  <a:srgbClr val="AEAEB3"/>
                </a:solidFill>
                <a:latin typeface="Microsoft YaHei"/>
              </a:defRPr>
            </a:pPr>
            <a:r>
              <a:t>Scale Expansion</a:t>
            </a:r>
          </a:p>
          <a:p>
            <a:pPr>
              <a:spcBef>
                <a:spcPts val="1000"/>
              </a:spcBef>
              <a:defRPr sz="1100">
                <a:solidFill>
                  <a:srgbClr val="8C8C96"/>
                </a:solidFill>
                <a:latin typeface="Microsoft YaHei"/>
              </a:defRPr>
            </a:pPr>
            <a:r>
              <a:t>拓展数据源与券商接入，实现 SaaS 收入规模化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79" y="2286000"/>
            <a:ext cx="2560320" cy="274320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E3"/>
                </a:solidFill>
                <a:latin typeface="Microsoft YaHei"/>
              </a:defRPr>
            </a:pPr>
            <a:r>
              <a:t>2027</a:t>
            </a:r>
          </a:p>
          <a:p>
            <a:pPr>
              <a:spcBef>
                <a:spcPts val="800"/>
              </a:spcBef>
              <a:defRPr sz="1800" b="1">
                <a:solidFill>
                  <a:srgbClr val="F5F5F7"/>
                </a:solidFill>
                <a:latin typeface="Microsoft YaHei"/>
              </a:defRPr>
            </a:pPr>
            <a:r>
              <a:t>生态构建</a:t>
            </a:r>
          </a:p>
          <a:p>
            <a:pPr>
              <a:defRPr sz="1200">
                <a:solidFill>
                  <a:srgbClr val="AEAEB3"/>
                </a:solidFill>
                <a:latin typeface="Microsoft YaHei"/>
              </a:defRPr>
            </a:pPr>
            <a:r>
              <a:t>Ecosystem Building</a:t>
            </a:r>
          </a:p>
          <a:p>
            <a:pPr>
              <a:spcBef>
                <a:spcPts val="1000"/>
              </a:spcBef>
              <a:defRPr sz="1100">
                <a:solidFill>
                  <a:srgbClr val="8C8C96"/>
                </a:solidFill>
                <a:latin typeface="Microsoft YaHei"/>
              </a:defRPr>
            </a:pPr>
            <a:r>
              <a:t>开放平台与策略商城，引入第三方开发者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19" y="2286000"/>
            <a:ext cx="2560320" cy="274320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E3"/>
                </a:solidFill>
                <a:latin typeface="Microsoft YaHei"/>
              </a:defRPr>
            </a:pPr>
            <a:r>
              <a:t>2028</a:t>
            </a:r>
          </a:p>
          <a:p>
            <a:pPr>
              <a:spcBef>
                <a:spcPts val="800"/>
              </a:spcBef>
              <a:defRPr sz="1800" b="1">
                <a:solidFill>
                  <a:srgbClr val="F5F5F7"/>
                </a:solidFill>
                <a:latin typeface="Microsoft YaHei"/>
              </a:defRPr>
            </a:pPr>
            <a:r>
              <a:t>全球化</a:t>
            </a:r>
          </a:p>
          <a:p>
            <a:pPr>
              <a:defRPr sz="1200">
                <a:solidFill>
                  <a:srgbClr val="AEAEB3"/>
                </a:solidFill>
                <a:latin typeface="Microsoft YaHei"/>
              </a:defRPr>
            </a:pPr>
            <a:r>
              <a:t>Globalization</a:t>
            </a:r>
          </a:p>
          <a:p>
            <a:pPr>
              <a:spcBef>
                <a:spcPts val="1000"/>
              </a:spcBef>
              <a:defRPr sz="1100">
                <a:solidFill>
                  <a:srgbClr val="8C8C96"/>
                </a:solidFill>
                <a:latin typeface="Microsoft YaHei"/>
              </a:defRPr>
            </a:pPr>
            <a:r>
              <a:t>拓展港股、美股与衍生品市场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1E3"/>
                </a:solidFill>
                <a:latin typeface="Microsoft YaHei"/>
              </a:defRPr>
            </a:pPr>
            <a:r>
              <a:t>商业模式 &amp; 市场 / BUSINESS &amp;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1018"/>
                </a:solidFill>
                <a:latin typeface="Microsoft YaHei"/>
              </a:defRPr>
            </a:pPr>
            <a:r>
              <a:t>多元化收入，可持续增长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E6E73"/>
                </a:solidFill>
                <a:latin typeface="Microsoft YaHei"/>
              </a:defRPr>
            </a:pPr>
            <a:r>
              <a:t>Diversified Revenue, Sustainable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  <a:latin typeface="Microsoft YaHei"/>
              </a:defRPr>
            </a:pPr>
            <a:r>
              <a:t>商业模式 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01018"/>
                </a:solidFill>
                <a:latin typeface="Microsoft YaHei"/>
              </a:defRPr>
            </a:pPr>
            <a:r>
              <a:t>• SaaS 订阅：按模块与数据量分级订阅</a:t>
            </a:r>
          </a:p>
          <a:p>
            <a:pPr>
              <a:spcAft>
                <a:spcPts val="1000"/>
              </a:spcAft>
              <a:defRPr sz="1500">
                <a:solidFill>
                  <a:srgbClr val="101018"/>
                </a:solidFill>
                <a:latin typeface="Microsoft YaHei"/>
              </a:defRPr>
            </a:pPr>
            <a:r>
              <a:t>• 交易分成：基于实盘交易规模收取技术服务费</a:t>
            </a:r>
          </a:p>
          <a:p>
            <a:pPr>
              <a:spcAft>
                <a:spcPts val="1000"/>
              </a:spcAft>
              <a:defRPr sz="1500">
                <a:solidFill>
                  <a:srgbClr val="101018"/>
                </a:solidFill>
                <a:latin typeface="Microsoft YaHei"/>
              </a:defRPr>
            </a:pPr>
            <a:r>
              <a:t>• 定制开发：私有化部署、策略定制与系统对接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  <a:latin typeface="Microsoft YaHei"/>
              </a:defRPr>
            </a:pPr>
            <a:r>
              <a:t>市场 Market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560320"/>
            <a:ext cx="5029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1018"/>
                </a:solidFill>
                <a:latin typeface="Microsoft YaHei"/>
              </a:defRPr>
            </a:pPr>
            <a:r>
              <a:t>TAM  ~$70B+</a:t>
            </a:r>
          </a:p>
          <a:p>
            <a:pPr>
              <a:defRPr sz="1100">
                <a:solidFill>
                  <a:srgbClr val="AEAEB3"/>
                </a:solidFill>
                <a:latin typeface="Microsoft YaHei"/>
              </a:defRPr>
            </a:pPr>
            <a:r>
              <a:t>中国量化交易技术服务市场总规模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383279"/>
            <a:ext cx="5029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1018"/>
                </a:solidFill>
                <a:latin typeface="Microsoft YaHei"/>
              </a:defRPr>
            </a:pPr>
            <a:r>
              <a:t>SAM  ~$1.7B</a:t>
            </a:r>
          </a:p>
          <a:p>
            <a:pPr>
              <a:defRPr sz="1100">
                <a:solidFill>
                  <a:srgbClr val="AEAEB3"/>
                </a:solidFill>
                <a:latin typeface="Microsoft YaHei"/>
              </a:defRPr>
            </a:pPr>
            <a:r>
              <a:t>专业服务型量化平台可服务市场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206240"/>
            <a:ext cx="5029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1018"/>
                </a:solidFill>
                <a:latin typeface="Microsoft YaHei"/>
              </a:defRPr>
            </a:pPr>
            <a:r>
              <a:t>SOM  ~$110M</a:t>
            </a:r>
          </a:p>
          <a:p>
            <a:pPr>
              <a:defRPr sz="1100">
                <a:solidFill>
                  <a:srgbClr val="AEAEB3"/>
                </a:solidFill>
                <a:latin typeface="Microsoft YaHei"/>
              </a:defRPr>
            </a:pPr>
            <a:r>
              <a:t>未来 3 年目标市场份额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1E3"/>
                </a:solidFill>
                <a:latin typeface="Microsoft YaHei"/>
              </a:defRPr>
            </a:pPr>
            <a:r>
              <a:t>团队 /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7"/>
                </a:solidFill>
                <a:latin typeface="Microsoft YaHei"/>
              </a:defRPr>
            </a:pPr>
            <a:r>
              <a:t>由量化、科技与金融领域资深人士组成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EAEB3"/>
                </a:solidFill>
                <a:latin typeface="Microsoft YaHei"/>
              </a:defRPr>
            </a:pPr>
            <a:r>
              <a:t>A Team Built by Leaders in Quant, Tech, and Finance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3566160" cy="292608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F5F7"/>
                </a:solidFill>
                <a:latin typeface="Microsoft YaHei"/>
              </a:defRPr>
            </a:pPr>
            <a:r>
              <a:t>Cynthia</a:t>
            </a:r>
          </a:p>
          <a:p>
            <a:pPr>
              <a:defRPr sz="1400">
                <a:solidFill>
                  <a:srgbClr val="0071E3"/>
                </a:solidFill>
                <a:latin typeface="Microsoft YaHei"/>
              </a:defRPr>
            </a:pPr>
            <a:r>
              <a:t>CEO</a:t>
            </a:r>
          </a:p>
          <a:p>
            <a:pPr>
              <a:spcBef>
                <a:spcPts val="1000"/>
              </a:spcBef>
              <a:defRPr sz="1300">
                <a:solidFill>
                  <a:srgbClr val="AEAEB3"/>
                </a:solidFill>
                <a:latin typeface="Microsoft YaHei"/>
              </a:defRPr>
            </a:pPr>
            <a:r>
              <a:t>连续创业者，推动 TzQuant 从实验室走向机构客户</a:t>
            </a:r>
          </a:p>
          <a:p>
            <a:pPr>
              <a:defRPr sz="1100">
                <a:solidFill>
                  <a:srgbClr val="787882"/>
                </a:solidFill>
                <a:latin typeface="Microsoft YaHei"/>
              </a:defRPr>
            </a:pPr>
            <a:r>
              <a:t>Serial entrepreneur driving TzQuant from lab to institutional clients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566160" cy="292608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F5F7"/>
                </a:solidFill>
                <a:latin typeface="Microsoft YaHei"/>
              </a:defRPr>
            </a:pPr>
            <a:r>
              <a:t>Leo</a:t>
            </a:r>
          </a:p>
          <a:p>
            <a:pPr>
              <a:defRPr sz="1400">
                <a:solidFill>
                  <a:srgbClr val="0071E3"/>
                </a:solidFill>
                <a:latin typeface="Microsoft YaHei"/>
              </a:defRPr>
            </a:pPr>
            <a:r>
              <a:t>CTO</a:t>
            </a:r>
          </a:p>
          <a:p>
            <a:pPr>
              <a:spcBef>
                <a:spcPts val="1000"/>
              </a:spcBef>
              <a:defRPr sz="1300">
                <a:solidFill>
                  <a:srgbClr val="AEAEB3"/>
                </a:solidFill>
                <a:latin typeface="Microsoft YaHei"/>
              </a:defRPr>
            </a:pPr>
            <a:r>
              <a:t>10+ 年系统架构经验，主导 AI 量化平台与交易核心落地</a:t>
            </a:r>
          </a:p>
          <a:p>
            <a:pPr>
              <a:defRPr sz="1100">
                <a:solidFill>
                  <a:srgbClr val="787882"/>
                </a:solidFill>
                <a:latin typeface="Microsoft YaHei"/>
              </a:defRPr>
            </a:pPr>
            <a:r>
              <a:t>10+ years of system architecture, leading AI quant platform and trading core 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2286000"/>
            <a:ext cx="3566160" cy="2926080"/>
          </a:xfrm>
          <a:prstGeom prst="roundRect">
            <a:avLst/>
          </a:prstGeom>
          <a:solidFill>
            <a:srgbClr val="1E1E2A"/>
          </a:solidFill>
          <a:ln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F5F7"/>
                </a:solidFill>
                <a:latin typeface="Microsoft YaHei"/>
              </a:defRPr>
            </a:pPr>
            <a:r>
              <a:t>Barry</a:t>
            </a:r>
          </a:p>
          <a:p>
            <a:pPr>
              <a:defRPr sz="1400">
                <a:solidFill>
                  <a:srgbClr val="0071E3"/>
                </a:solidFill>
                <a:latin typeface="Microsoft YaHei"/>
              </a:defRPr>
            </a:pPr>
            <a:r>
              <a:t>CFO</a:t>
            </a:r>
          </a:p>
          <a:p>
            <a:pPr>
              <a:spcBef>
                <a:spcPts val="1000"/>
              </a:spcBef>
              <a:defRPr sz="1300">
                <a:solidFill>
                  <a:srgbClr val="AEAEB3"/>
                </a:solidFill>
                <a:latin typeface="Microsoft YaHei"/>
              </a:defRPr>
            </a:pPr>
            <a:r>
              <a:t>前 500 强 M&amp;A 总监，主导融资与生态合作</a:t>
            </a:r>
          </a:p>
          <a:p>
            <a:pPr>
              <a:defRPr sz="1100">
                <a:solidFill>
                  <a:srgbClr val="787882"/>
                </a:solidFill>
                <a:latin typeface="Microsoft YaHei"/>
              </a:defRPr>
            </a:pPr>
            <a:r>
              <a:t>Former Fortune 500 M&amp;A director, leading financing and ecosystem partnerships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1E3"/>
                </a:solidFill>
                <a:latin typeface="Microsoft YaHei"/>
              </a:defRPr>
            </a:pPr>
            <a:r>
              <a:t>融资 / 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1018"/>
                </a:solidFill>
                <a:latin typeface="Microsoft YaHei"/>
              </a:defRPr>
            </a:pPr>
            <a:r>
              <a:t>Seeking $5M 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E6E73"/>
                </a:solidFill>
                <a:latin typeface="Microsoft YaHei"/>
              </a:defRPr>
            </a:pPr>
            <a:r>
              <a:t>Seeking $5M 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01018"/>
                </a:solidFill>
                <a:latin typeface="Microsoft YaHei"/>
              </a:defRPr>
            </a:pPr>
            <a:r>
              <a:t>如果您对 TzQuant 感兴趣，欢迎与我们联系。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AEB3"/>
                </a:solidFill>
                <a:latin typeface="Microsoft YaHei"/>
              </a:defRPr>
            </a:pPr>
            <a:r>
              <a:t>If you're interested in TzQuant, we'd love to hear from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  <a:latin typeface="Microsoft YaHei"/>
              </a:defRPr>
            </a:pPr>
            <a:r>
              <a:t>用途 Use of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290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01018"/>
                </a:solidFill>
                <a:latin typeface="Microsoft YaHei"/>
              </a:defRPr>
            </a:pPr>
            <a:r>
              <a:t>• 40% 核心研发 Core R&amp;D</a:t>
            </a:r>
          </a:p>
          <a:p>
            <a:pPr>
              <a:spcAft>
                <a:spcPts val="1000"/>
              </a:spcAft>
              <a:defRPr sz="1600">
                <a:solidFill>
                  <a:srgbClr val="101018"/>
                </a:solidFill>
                <a:latin typeface="Microsoft YaHei"/>
              </a:defRPr>
            </a:pPr>
            <a:r>
              <a:t>• 30% 数据采购 Data Acquisition</a:t>
            </a:r>
          </a:p>
          <a:p>
            <a:pPr>
              <a:spcAft>
                <a:spcPts val="1000"/>
              </a:spcAft>
              <a:defRPr sz="1600">
                <a:solidFill>
                  <a:srgbClr val="101018"/>
                </a:solidFill>
                <a:latin typeface="Microsoft YaHei"/>
              </a:defRPr>
            </a:pPr>
            <a:r>
              <a:t>• 20% BD 增长 BD &amp; Growth</a:t>
            </a:r>
          </a:p>
          <a:p>
            <a:pPr>
              <a:spcAft>
                <a:spcPts val="1000"/>
              </a:spcAft>
              <a:defRPr sz="1600">
                <a:solidFill>
                  <a:srgbClr val="101018"/>
                </a:solidFill>
                <a:latin typeface="Microsoft YaHei"/>
              </a:defRPr>
            </a:pPr>
            <a:r>
              <a:t>• 10% 合规运营 Compliance &amp;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  <a:latin typeface="Microsoft YaHei"/>
              </a:defRPr>
            </a:pPr>
            <a:r>
              <a:t>里程碑 Milestone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01018"/>
                </a:solidFill>
                <a:latin typeface="Microsoft YaHei"/>
              </a:defRPr>
            </a:pPr>
            <a:r>
              <a:t>• 现金流周期 18–24 个月</a:t>
            </a:r>
          </a:p>
          <a:p>
            <a:pPr>
              <a:spcAft>
                <a:spcPts val="1000"/>
              </a:spcAft>
              <a:defRPr sz="1600">
                <a:solidFill>
                  <a:srgbClr val="101018"/>
                </a:solidFill>
                <a:latin typeface="Microsoft YaHei"/>
              </a:defRPr>
            </a:pPr>
            <a:r>
              <a:t>• 融资后达到 200 家机构客户</a:t>
            </a:r>
          </a:p>
          <a:p>
            <a:pPr>
              <a:spcAft>
                <a:spcPts val="1000"/>
              </a:spcAft>
              <a:defRPr sz="1600">
                <a:solidFill>
                  <a:srgbClr val="101018"/>
                </a:solidFill>
                <a:latin typeface="Microsoft YaHei"/>
              </a:defRPr>
            </a:pPr>
            <a:r>
              <a:t>• ARR $5M</a:t>
            </a:r>
          </a:p>
          <a:p>
            <a:pPr>
              <a:spcAft>
                <a:spcPts val="1000"/>
              </a:spcAft>
              <a:defRPr sz="1600">
                <a:solidFill>
                  <a:srgbClr val="101018"/>
                </a:solidFill>
                <a:latin typeface="Microsoft YaHei"/>
              </a:defRPr>
            </a:pPr>
            <a:r>
              <a:t>• 亚洲市场覆盖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035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1E3"/>
                </a:solidFill>
                <a:latin typeface="Microsoft YaHei"/>
              </a:defRPr>
            </a:pPr>
            <a:r>
              <a:t>bd@tzquant.com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EAEB3"/>
                </a:solidFill>
                <a:latin typeface="Microsoft YaHei"/>
              </a:defRPr>
            </a:pPr>
            <a:r>
              <a:t>杭州 Hangzhou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